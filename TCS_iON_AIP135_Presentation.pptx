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charts/chart4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1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383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53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0D1B2A"/>
                </a:solidFill>
                <a:latin typeface="Arial"/>
              </a:rPr>
              <a:t>Spending Level Class Distribution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FBBF2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9A4-4E0C-AF26-C8F4F4A45304}"/>
              </c:ext>
            </c:extLst>
          </c:dPt>
          <c:dPt>
            <c:idx val="1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9A4-4E0C-AF26-C8F4F4A45304}"/>
              </c:ext>
            </c:extLst>
          </c:dPt>
          <c:dPt>
            <c:idx val="2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9A4-4E0C-AF26-C8F4F4A4530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Medium Spender</c:v>
                </c:pt>
                <c:pt idx="1">
                  <c:v>High Spender</c:v>
                </c:pt>
                <c:pt idx="2">
                  <c:v>Low Spender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49149</c:v>
                </c:pt>
                <c:pt idx="1">
                  <c:v>25817</c:v>
                </c:pt>
                <c:pt idx="2">
                  <c:v>25034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9A4-4E0C-AF26-C8F4F4A4530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E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D1B2A"/>
                </a:solidFill>
                <a:latin typeface="Arial"/>
              </a:rPr>
              <a:t>Top Product Categories by Purchase Count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2063746342052071"/>
          <c:y val="0.11637205387205385"/>
          <c:w val="0.73211320028961901"/>
          <c:h val="0.7483022482038229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Purchases</c:v>
                </c:pt>
              </c:strCache>
            </c:strRef>
          </c:tx>
          <c:spPr>
            <a:solidFill>
              <a:srgbClr val="0A7E8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A7E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019-43E2-A028-60C02EACBE0A}"/>
              </c:ext>
            </c:extLst>
          </c:dPt>
          <c:dPt>
            <c:idx val="1"/>
            <c:invertIfNegative val="0"/>
            <c:bubble3D val="0"/>
            <c:spPr>
              <a:solidFill>
                <a:srgbClr val="0A7E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019-43E2-A028-60C02EACBE0A}"/>
              </c:ext>
            </c:extLst>
          </c:dPt>
          <c:dPt>
            <c:idx val="2"/>
            <c:invertIfNegative val="0"/>
            <c:bubble3D val="0"/>
            <c:spPr>
              <a:solidFill>
                <a:srgbClr val="0A7E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019-43E2-A028-60C02EACBE0A}"/>
              </c:ext>
            </c:extLst>
          </c:dPt>
          <c:dPt>
            <c:idx val="3"/>
            <c:invertIfNegative val="0"/>
            <c:bubble3D val="0"/>
            <c:spPr>
              <a:solidFill>
                <a:srgbClr val="12A3B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019-43E2-A028-60C02EACBE0A}"/>
              </c:ext>
            </c:extLst>
          </c:dPt>
          <c:dPt>
            <c:idx val="4"/>
            <c:invertIfNegative val="0"/>
            <c:bubble3D val="0"/>
            <c:spPr>
              <a:solidFill>
                <a:srgbClr val="12A3B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019-43E2-A028-60C02EACBE0A}"/>
              </c:ext>
            </c:extLst>
          </c:dPt>
          <c:dPt>
            <c:idx val="5"/>
            <c:invertIfNegative val="0"/>
            <c:bubble3D val="0"/>
            <c:spPr>
              <a:solidFill>
                <a:srgbClr val="75BEC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4019-43E2-A028-60C02EACBE0A}"/>
              </c:ext>
            </c:extLst>
          </c:dPt>
          <c:dPt>
            <c:idx val="6"/>
            <c:invertIfNegative val="0"/>
            <c:bubble3D val="0"/>
            <c:spPr>
              <a:solidFill>
                <a:srgbClr val="75BEC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4019-43E2-A028-60C02EACBE0A}"/>
              </c:ext>
            </c:extLst>
          </c:dPt>
          <c:dPt>
            <c:idx val="7"/>
            <c:invertIfNegative val="0"/>
            <c:bubble3D val="0"/>
            <c:spPr>
              <a:solidFill>
                <a:srgbClr val="75BEC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4019-43E2-A028-60C02EACBE0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Electronics</c:v>
                </c:pt>
                <c:pt idx="1">
                  <c:v>Clothing</c:v>
                </c:pt>
                <c:pt idx="2">
                  <c:v>Books</c:v>
                </c:pt>
                <c:pt idx="3">
                  <c:v>Beauty</c:v>
                </c:pt>
                <c:pt idx="4">
                  <c:v>Food</c:v>
                </c:pt>
                <c:pt idx="5">
                  <c:v>Toys</c:v>
                </c:pt>
                <c:pt idx="6">
                  <c:v>Sports</c:v>
                </c:pt>
                <c:pt idx="7">
                  <c:v>Home Decor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30027</c:v>
                </c:pt>
                <c:pt idx="1">
                  <c:v>19989</c:v>
                </c:pt>
                <c:pt idx="2">
                  <c:v>14925</c:v>
                </c:pt>
                <c:pt idx="3">
                  <c:v>10500</c:v>
                </c:pt>
                <c:pt idx="4">
                  <c:v>9800</c:v>
                </c:pt>
                <c:pt idx="5">
                  <c:v>6200</c:v>
                </c:pt>
                <c:pt idx="6">
                  <c:v>5400</c:v>
                </c:pt>
                <c:pt idx="7">
                  <c:v>4159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4019-43E2-A028-60C02EACBE0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E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0D1B2A"/>
                </a:solidFill>
                <a:latin typeface="Arial"/>
              </a:rPr>
              <a:t>Accuracy Comparison Across Experiments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D1A-4A05-8C0D-0C534B65DC51}"/>
              </c:ext>
            </c:extLst>
          </c:dPt>
          <c:dPt>
            <c:idx val="1"/>
            <c:invertIfNegative val="0"/>
            <c:bubble3D val="0"/>
            <c:spPr>
              <a:solidFill>
                <a:srgbClr val="FBBF2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D1A-4A05-8C0D-0C534B65DC51}"/>
              </c:ext>
            </c:extLst>
          </c:dPt>
          <c:dPt>
            <c:idx val="2"/>
            <c:invertIfNegative val="0"/>
            <c:bubble3D val="0"/>
            <c:spPr>
              <a:solidFill>
                <a:srgbClr val="0A7E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D1A-4A05-8C0D-0C534B65DC5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Exp 1: [27,64,32,3]
No Scaling</c:v>
                </c:pt>
                <c:pt idx="1">
                  <c:v>Exp 2: [27,128,64,32,3]
No Scaling</c:v>
                </c:pt>
                <c:pt idx="2">
                  <c:v>Exp 3 (Final): [27,128,64,32,3]
With Scaling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50.46</c:v>
                </c:pt>
                <c:pt idx="1">
                  <c:v>50.46</c:v>
                </c:pt>
                <c:pt idx="2">
                  <c:v>85.94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D1A-4A05-8C0D-0C534B65DC5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E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0D1B2A"/>
                </a:solidFill>
                <a:latin typeface="Arial"/>
              </a:rPr>
              <a:t>Model Evaluation Metrics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 (%)</c:v>
                </c:pt>
              </c:strCache>
            </c:strRef>
          </c:tx>
          <c:spPr>
            <a:solidFill>
              <a:srgbClr val="0A7E8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276-4FB8-B7C6-F5DCC66BCA40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E276-4FB8-B7C6-F5DCC66BCA40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E276-4FB8-B7C6-F5DCC66BCA40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E276-4FB8-B7C6-F5DCC66BCA4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F1 Score</c:v>
                </c:pt>
                <c:pt idx="2">
                  <c:v>Weighted Precision</c:v>
                </c:pt>
                <c:pt idx="3">
                  <c:v>Weighted Recall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85.94</c:v>
                </c:pt>
                <c:pt idx="1">
                  <c:v>85.99</c:v>
                </c:pt>
                <c:pt idx="2">
                  <c:v>86.02</c:v>
                </c:pt>
                <c:pt idx="3">
                  <c:v>85.94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276-4FB8-B7C6-F5DCC66BCA4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"/>
          <c:min val="80"/>
        </c:scaling>
        <c:delete val="0"/>
        <c:axPos val="l"/>
        <c:majorGridlines>
          <c:spPr>
            <a:ln w="6350" cap="flat">
              <a:solidFill>
                <a:srgbClr val="E2EE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2998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2BDF0-71DB-674B-809B-5774D0D0A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D8A9AF-88FC-E001-A8B5-5071407B64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5CFB03-8175-60E0-859F-4688185BEE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B7F0CA-893C-6025-1054-B442D4FD3E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3978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2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iON INDUSTRY PROJECT  ·  AIP 135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Neural Network Approach to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Customer Metrics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Predict Buying Trends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3154680"/>
            <a:ext cx="3200400" cy="36576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291840"/>
            <a:ext cx="8046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Abhinav M  (31250837)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F.Y M.Sc – Statistics Data Science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Mentorship of Dr. Raeesa Bashir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Vishwakarma University, Pune  ·  AY 2025–26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54864" cy="50292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01168"/>
            <a:ext cx="8092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9601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353312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industry generates vast customer data, yet most businesses still rely on outdated rule-based segmentation.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and Machine Learning now enable intelligent, scalable customer behaviour prediction — offering a decisive competitive edge.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6060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999232"/>
            <a:ext cx="3657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identifying High-Value customers accurately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Inefficient marketing budget allocation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which attributes drive buying behaviour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Promotions failing to deliver expected ROI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868680"/>
            <a:ext cx="4023360" cy="3657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9601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00600" y="137160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MLP Neural Network using PySpark to classify customers as: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High Spender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Medium Spender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Low Spender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Enabling targeted marketing, personalised offers, and optimised inventory planning.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54864" cy="50292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01168"/>
            <a:ext cx="8092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502920" cy="10058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00584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implement an MLP Neural Network using PySpark MLlib for multi-class spending level classification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914400"/>
            <a:ext cx="502920" cy="10058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17043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57800" y="100584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in-depth EDA to uncover hidden patterns between customer metrics and purchasing behaviour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14884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148840"/>
            <a:ext cx="502920" cy="10058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40487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224028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most influential features through feature engineering and model evaluation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14884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148840"/>
            <a:ext cx="502920" cy="10058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240487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57800" y="224028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model using Accuracy, F1 Score, Weighted Precision &amp; Recall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38328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383280"/>
            <a:ext cx="502920" cy="10058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63931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51560" y="347472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model deployment with real-time inference on new customer data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38328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3383280"/>
            <a:ext cx="502920" cy="10058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363931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57800" y="347472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actionable business insights and strategic recommendations for retail organizations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54864" cy="50292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01168"/>
            <a:ext cx="8092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144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4600" y="86868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06040" y="9144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606040" y="14630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Columns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86868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9144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663440" y="14630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Classes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29400" y="868680"/>
            <a:ext cx="2057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91440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720840" y="146304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1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E43FFC5D-C649-DF72-5900-725C3EF004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127253"/>
            <a:ext cx="4059936" cy="3016247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10EF928-7FAF-F568-0199-F641A7AF59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2178008"/>
            <a:ext cx="3984959" cy="19310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54864" cy="50292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01168"/>
            <a:ext cx="8092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Class Distribution &amp; Demographic Insights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914400"/>
          <a:ext cx="41148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846320" y="914400"/>
            <a:ext cx="3840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846320" y="914400"/>
            <a:ext cx="109728" cy="8686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47488" y="9601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49.15%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047488" y="13533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Spender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080760" y="9601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segment — 49,149 customers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846320" y="1901952"/>
            <a:ext cx="3840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46320" y="1901952"/>
            <a:ext cx="109728" cy="8686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47488" y="194767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25.82%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5047488" y="234086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Spender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080760" y="1947672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25,817 high-value customers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846320" y="2889504"/>
            <a:ext cx="3840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846320" y="2889504"/>
            <a:ext cx="109728" cy="868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47488" y="2935224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25.03%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5047488" y="332841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Spender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080760" y="2935224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25,034 budget customers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57200" y="3977640"/>
            <a:ext cx="82296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40080" y="40690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8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1691640" y="40690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is moderately balanced with no extreme class dominance. Income and gender individually show weak separation between spending tiers — confirming that multi-feature neural network modelling is essential.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54864" cy="50292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01168"/>
            <a:ext cx="8092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Product Trends &amp; Regional Revenue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369539713"/>
              </p:ext>
            </p:extLst>
          </p:nvPr>
        </p:nvGraphicFramePr>
        <p:xfrm>
          <a:off x="457200" y="868680"/>
          <a:ext cx="530352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989320" y="868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Revenue Contribution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943600" y="1325880"/>
            <a:ext cx="2788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43600" y="1325880"/>
            <a:ext cx="548640" cy="64008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0" y="13990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92240" y="13716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₹289.2M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92240" y="16916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31.2% of total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943600" y="2075688"/>
            <a:ext cx="2788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943600" y="2075688"/>
            <a:ext cx="548640" cy="640080"/>
          </a:xfrm>
          <a:prstGeom prst="rect">
            <a:avLst/>
          </a:prstGeom>
          <a:solidFill>
            <a:srgbClr val="12A3B4"/>
          </a:solidFill>
          <a:ln w="12700">
            <a:solidFill>
              <a:srgbClr val="12A3B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3" name="Text 10"/>
          <p:cNvSpPr/>
          <p:nvPr/>
        </p:nvSpPr>
        <p:spPr>
          <a:xfrm>
            <a:off x="5943600" y="2148840"/>
            <a:ext cx="5486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92240" y="212140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₹288.0M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492240" y="24414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31.1% of total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943600" y="2825496"/>
            <a:ext cx="2788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943600" y="2825496"/>
            <a:ext cx="54864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43600" y="2898648"/>
            <a:ext cx="548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92240" y="287121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₹193.7M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492240" y="319125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20.9% of total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943600" y="3575304"/>
            <a:ext cx="2788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943600" y="3575304"/>
            <a:ext cx="548640" cy="64008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43600" y="3648456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492240" y="362102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~₹155M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492240" y="394106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16.8% of total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57200" y="4393749"/>
            <a:ext cx="8229600" cy="6217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594360" y="4314231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8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1645920" y="4466901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leads in volume (30,027 purchases) but Beauty &amp; Food lead in avg revenue per sale (₹9,721 &amp; ₹9,670). East &amp; West regions drive ~62% of total revenue.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54864" cy="50292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01168"/>
            <a:ext cx="8092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Feature Correlation &amp; Scatter Analysis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37490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 — Numerical Features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754880" y="86868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754880" y="868680"/>
            <a:ext cx="1920240" cy="3200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4" name="Text 5"/>
          <p:cNvSpPr/>
          <p:nvPr/>
        </p:nvSpPr>
        <p:spPr>
          <a:xfrm>
            <a:off x="4800600" y="9052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vs Purchase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846320" y="1252728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spending tiers spread uniformly — income is NOT a clean separator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858000" y="86868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858000" y="868680"/>
            <a:ext cx="1920240" cy="3200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03720" y="9052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vs Purchase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949440" y="1252728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age-based clustering — age alone is a weak predictor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54880" y="246888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54880" y="2468880"/>
            <a:ext cx="1920240" cy="3200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00600" y="25054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vs Purchase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846320" y="2852928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distribution confirms correlation = 0.0034 (negligible)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858000" y="246888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858000" y="2468880"/>
            <a:ext cx="1920240" cy="3200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903720" y="25054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vs Purchase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949440" y="2852928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promo &amp; non-promo buyers appear at all spending tiers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754880" y="400507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Analysis Summary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40080" y="42062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8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1691640" y="42062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correlations confirm no single feature drives spending level — a multi-dimensional, non-linear model like MLP is the correct choice.</a:t>
            </a:r>
            <a:endParaRPr lang="en-US" sz="11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98E4E0D-999B-33D5-F21A-992EC32623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423" y="1046066"/>
            <a:ext cx="4247225" cy="248778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54864" cy="50292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01168"/>
            <a:ext cx="8092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Feature Engineering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1325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14400"/>
            <a:ext cx="1325880" cy="4572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1234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→ PySpark DataFrame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records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737360" y="2121408"/>
            <a:ext cx="91440" cy="16459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914400"/>
            <a:ext cx="1325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0" y="914400"/>
            <a:ext cx="1325880" cy="4572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96012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74520" y="14173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EDA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74520" y="1965960"/>
            <a:ext cx="1234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nulls · Drop id · Derive target variable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154680" y="2121408"/>
            <a:ext cx="91440" cy="16459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46120" y="914400"/>
            <a:ext cx="1325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914400"/>
            <a:ext cx="1325880" cy="4572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96012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291840" y="14173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91840" y="1965960"/>
            <a:ext cx="1234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StringIndexer → OneHotEncoder → VectorAssembler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0" y="2121408"/>
            <a:ext cx="91440" cy="16459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914400"/>
            <a:ext cx="1325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914400"/>
            <a:ext cx="132588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96012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709160" y="14173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09160" y="1965960"/>
            <a:ext cx="1234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applied to all 27 features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989320" y="2121408"/>
            <a:ext cx="91440" cy="16459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80760" y="914400"/>
            <a:ext cx="1325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80760" y="914400"/>
            <a:ext cx="132588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80760" y="96012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126480" y="14173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26480" y="1965960"/>
            <a:ext cx="1234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Classifier · 80/20 split · seed=42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406640" y="2121408"/>
            <a:ext cx="91440" cy="16459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98080" y="914400"/>
            <a:ext cx="1325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498080" y="914400"/>
            <a:ext cx="132588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98080" y="96012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543800" y="14173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Deploy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543800" y="1965960"/>
            <a:ext cx="1234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· F1 · Precision · Recall · Inference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3611880"/>
            <a:ext cx="8229600" cy="13304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40080" y="36758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Details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40080" y="4041648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(6 cols):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education, region, loyalty_status, purchase_frequency, product_category → StringIndexer + OneHotEncoder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(4 cols): 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income, promotion_usage, satisfaction_score → retained as-is  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Feature Vector: 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dimensions via VectorAssembler → StandardScaler normalization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54864" cy="50292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01168"/>
            <a:ext cx="8092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 — Multilayer Perceptron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280160" cy="1280160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34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75564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23317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6700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C8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28800" y="1600200"/>
            <a:ext cx="411480" cy="0"/>
          </a:xfrm>
          <a:prstGeom prst="line">
            <a:avLst/>
          </a:prstGeom>
          <a:noFill/>
          <a:ln w="25400">
            <a:solidFill>
              <a:srgbClr val="C8F0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960120"/>
            <a:ext cx="1280160" cy="1280160"/>
          </a:xfrm>
          <a:prstGeom prst="ellipse">
            <a:avLst/>
          </a:prstGeom>
          <a:solidFill>
            <a:srgbClr val="12A3B4"/>
          </a:solidFill>
          <a:ln w="12700">
            <a:solidFill>
              <a:srgbClr val="12A3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40280" y="1234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240280" y="175564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194560" y="23317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 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94560" y="26700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C8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520440" y="1600200"/>
            <a:ext cx="411480" cy="0"/>
          </a:xfrm>
          <a:prstGeom prst="line">
            <a:avLst/>
          </a:prstGeom>
          <a:noFill/>
          <a:ln w="25400">
            <a:solidFill>
              <a:srgbClr val="C8F0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31920" y="960120"/>
            <a:ext cx="1280160" cy="1280160"/>
          </a:xfrm>
          <a:prstGeom prst="ellipse">
            <a:avLst/>
          </a:prstGeom>
          <a:solidFill>
            <a:srgbClr val="12A3B4"/>
          </a:solidFill>
          <a:ln w="12700">
            <a:solidFill>
              <a:srgbClr val="12A3B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0" y="1234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931920" y="175564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886200" y="23317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 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86200" y="26700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C8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212080" y="1600200"/>
            <a:ext cx="411480" cy="0"/>
          </a:xfrm>
          <a:prstGeom prst="line">
            <a:avLst/>
          </a:prstGeom>
          <a:noFill/>
          <a:ln w="25400">
            <a:solidFill>
              <a:srgbClr val="C8F0F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23560" y="960120"/>
            <a:ext cx="1280160" cy="1280160"/>
          </a:xfrm>
          <a:prstGeom prst="ellipse">
            <a:avLst/>
          </a:prstGeom>
          <a:solidFill>
            <a:srgbClr val="12A3B4"/>
          </a:solidFill>
          <a:ln w="12700">
            <a:solidFill>
              <a:srgbClr val="12A3B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23560" y="1234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623560" y="175564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577840" y="23317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 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77840" y="26700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C8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903720" y="1600200"/>
            <a:ext cx="411480" cy="0"/>
          </a:xfrm>
          <a:prstGeom prst="line">
            <a:avLst/>
          </a:prstGeom>
          <a:noFill/>
          <a:ln w="25400">
            <a:solidFill>
              <a:srgbClr val="C8F0F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0" y="960120"/>
            <a:ext cx="1280160" cy="12801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0" y="1234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7315200" y="175564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269480" y="23317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269480" y="26700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C8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57200" y="3520440"/>
            <a:ext cx="1325880" cy="777240"/>
          </a:xfrm>
          <a:prstGeom prst="rect">
            <a:avLst/>
          </a:prstGeom>
          <a:solidFill>
            <a:srgbClr val="0A2030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56616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7200" y="3913632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Iterations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920240" y="3520440"/>
            <a:ext cx="1325880" cy="777240"/>
          </a:xfrm>
          <a:prstGeom prst="rect">
            <a:avLst/>
          </a:prstGeom>
          <a:solidFill>
            <a:srgbClr val="0A2030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920240" y="356616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920240" y="3913632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383280" y="3520440"/>
            <a:ext cx="1325880" cy="777240"/>
          </a:xfrm>
          <a:prstGeom prst="rect">
            <a:avLst/>
          </a:prstGeom>
          <a:solidFill>
            <a:srgbClr val="0A2030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83280" y="356616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3383280" y="3913632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Size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846320" y="3520440"/>
            <a:ext cx="1325880" cy="777240"/>
          </a:xfrm>
          <a:prstGeom prst="rect">
            <a:avLst/>
          </a:prstGeom>
          <a:solidFill>
            <a:srgbClr val="0A2030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46320" y="356616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/ 20%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4846320" y="3913632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309360" y="3520440"/>
            <a:ext cx="1325880" cy="777240"/>
          </a:xfrm>
          <a:prstGeom prst="rect">
            <a:avLst/>
          </a:prstGeom>
          <a:solidFill>
            <a:srgbClr val="0A2030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09360" y="356616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309360" y="3913632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Seed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772400" y="3520440"/>
            <a:ext cx="1325880" cy="777240"/>
          </a:xfrm>
          <a:prstGeom prst="rect">
            <a:avLst/>
          </a:prstGeom>
          <a:solidFill>
            <a:srgbClr val="0A2030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772400" y="356616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7772400" y="3913632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Architecture: [ 27  →  128  →  64  →  32  →  3 ]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4B8EBD-22E9-915D-431E-E36BFAD72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4865763-C02A-1CD8-5CEF-8929B7C4B5F6}"/>
              </a:ext>
            </a:extLst>
          </p:cNvPr>
          <p:cNvSpPr/>
          <p:nvPr/>
        </p:nvSpPr>
        <p:spPr>
          <a:xfrm>
            <a:off x="457200" y="201168"/>
            <a:ext cx="54864" cy="50292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0D67001-F2C3-6DB4-BAAD-0DF79DD61126}"/>
              </a:ext>
            </a:extLst>
          </p:cNvPr>
          <p:cNvSpPr/>
          <p:nvPr/>
        </p:nvSpPr>
        <p:spPr>
          <a:xfrm>
            <a:off x="594360" y="201168"/>
            <a:ext cx="8092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 — Multilayer Perceptron</a:t>
            </a:r>
            <a:endParaRPr lang="en-US" sz="2600" dirty="0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1D51F5F2-0929-8662-8528-2353E83E8D7F}"/>
              </a:ext>
            </a:extLst>
          </p:cNvPr>
          <p:cNvSpPr/>
          <p:nvPr/>
        </p:nvSpPr>
        <p:spPr>
          <a:xfrm>
            <a:off x="1035934" y="447240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7C6EE26D-7D54-7528-38B2-D8337659A0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182" y="896295"/>
            <a:ext cx="7847636" cy="4237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9237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54864" cy="50292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01168"/>
            <a:ext cx="8092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&amp; Experimentation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868680"/>
          <a:ext cx="50292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868680"/>
            <a:ext cx="3063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669280" y="868680"/>
            <a:ext cx="109728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70448" y="9144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1  50.46%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870448" y="126187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[27, 64, 32, 3]  |  No Scaling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870448" y="148132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 — random-level performance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669280" y="1920240"/>
            <a:ext cx="3063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69280" y="1920240"/>
            <a:ext cx="109728" cy="9144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70448" y="19659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2  50.46%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870448" y="231343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[27, 128, 64, 32, 3]  |  No Scaling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870448" y="253288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network — no improvement without scaling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669280" y="2971800"/>
            <a:ext cx="3063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0" y="2971800"/>
            <a:ext cx="109728" cy="9144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70448" y="30175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3 ✓  85.94%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870448" y="33649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[27, 128, 64, 32, 3]  |  StandardScaler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870448" y="358444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applied — dramatic breakthrough!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57200" y="4069080"/>
            <a:ext cx="8229600" cy="7772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40080" y="416052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Feature Scaling (StandardScaler) alone improved accuracy from 50.46% → 85.94% — a 35.5 percentage point jump!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54864" cy="50292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01168"/>
            <a:ext cx="8092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Results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144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85.94%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4600" y="86868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06040" y="9144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85.99%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606040" y="14630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86868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9144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86.02%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663440" y="14630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Precision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29400" y="868680"/>
            <a:ext cx="2057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91440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85.94%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720840" y="146304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Recall</a:t>
            </a:r>
            <a:endParaRPr lang="en-US" sz="11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457200" y="2011680"/>
          <a:ext cx="502920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Shape 14"/>
          <p:cNvSpPr/>
          <p:nvPr/>
        </p:nvSpPr>
        <p:spPr>
          <a:xfrm>
            <a:off x="5669280" y="2011680"/>
            <a:ext cx="306324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806440" y="208483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Insights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806440" y="2514600"/>
            <a:ext cx="278892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Spenders correctly identified with strong precision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Spenders — largest class — well classified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Spenders show balanced precision &amp; recall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shows no bias toward any single class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between Precision &amp; Recall confirms robust generalization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57200" y="4736592"/>
            <a:ext cx="8229600" cy="20116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594360" y="4754880"/>
            <a:ext cx="7955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demonstrates strong generalization capability — consistent metrics confirm suitability for real-world deployment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54864" cy="50292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01168"/>
            <a:ext cx="8092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Insights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24231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68680"/>
            <a:ext cx="24231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92354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8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Electronics Dominates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344168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30,027 purchases — top category by volume. Inventory &amp; promotions should prioritise this segment.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063240" y="868680"/>
            <a:ext cx="24231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063240" y="868680"/>
            <a:ext cx="24231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36392" y="92354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8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💄  Beauty &amp; Food = High Value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54680" y="1344168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lower volume, Beauty (₹9,721) &amp; Food (₹9,670) generate highest avg revenue per sale.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0" y="868680"/>
            <a:ext cx="24231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0" y="868680"/>
            <a:ext cx="24231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42432" y="92354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8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East &amp; West Lead Revenue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60720" y="1344168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contribute ~62% of total revenue. South region has untapped growth potential.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651760"/>
            <a:ext cx="24231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651760"/>
            <a:ext cx="24231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70662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8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Promotions Need Re-targeting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127248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spend difference: only ₹12 between promo vs no-promo. Blanket campaigns deliver poor ROI.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063240" y="2651760"/>
            <a:ext cx="24231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063240" y="2651760"/>
            <a:ext cx="24231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36392" y="270662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8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🏅  Loyalty Tier Needs Rethink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154680" y="3127248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customers (₹9,640 avg) marginally outspend Gold (₹9,621). Loyalty programme needs recalibration.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0" y="2651760"/>
            <a:ext cx="24231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669280" y="2651760"/>
            <a:ext cx="24231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42432" y="270662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8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😊  Satisfaction ≠ Spending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760720" y="3127248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= 0.0034. Satisfaction alone does not drive revenue — multi-factor targeting is required.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94360" y="44805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insights, combined with MLP predictions, enable targeted marketing, optimised promotions, and personalised customer experiences.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54864" cy="50292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01168"/>
            <a:ext cx="8092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Deployment &amp; Inference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68680"/>
            <a:ext cx="2011680" cy="41148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869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3533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Saved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MLP saved to disk using Spark's native format for reuse without retraining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86868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06040" y="868680"/>
            <a:ext cx="2011680" cy="41148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8869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697480" y="13533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Loaded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97480" y="17373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model reloaded and pipeline reconstructed for inference on new data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86868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868680"/>
            <a:ext cx="2011680" cy="41148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8869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846320" y="13533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17373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synthetic customer profiles created with realistic demographics &amp; behaviour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03720" y="86868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03720" y="868680"/>
            <a:ext cx="2011680" cy="41148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8869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95160" y="13533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95160" y="17373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outputs: Predicted spending class + probability distribution per class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28346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Inference Results (5 New Customers)</a:t>
            </a:r>
            <a:endParaRPr lang="en-US" sz="13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09E6714-4179-5A0F-E990-D7256CE9F9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4845" y="3119259"/>
            <a:ext cx="6091470" cy="182880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54864" cy="50292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01168"/>
            <a:ext cx="8092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4114800" cy="3566160"/>
          </a:xfrm>
          <a:prstGeom prst="rect">
            <a:avLst/>
          </a:prstGeom>
          <a:solidFill>
            <a:srgbClr val="0A2030"/>
          </a:solidFill>
          <a:ln w="12700">
            <a:solidFill>
              <a:srgbClr val="0A203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9144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353312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Neural Network achieved 85.94% accuracy classifying customers into Low, Medium, and High Spenders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 (StandardScaler) was the single most impactful improvement — lifting accuracy by 35.5pp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PySpark pipeline proven scalable for 100,000+ records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and Business Intelligence reveal actionable segmentation insights beyond model predictions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model successfully generates predictions with class-level probability confidence on new data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841248"/>
            <a:ext cx="3931920" cy="3566160"/>
          </a:xfrm>
          <a:prstGeom prst="rect">
            <a:avLst/>
          </a:prstGeom>
          <a:solidFill>
            <a:srgbClr val="0A2030"/>
          </a:solidFill>
          <a:ln w="12700">
            <a:solidFill>
              <a:srgbClr val="0A203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19472" y="914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19472" y="1353312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time-based purchase patterns and customer interaction history for richer feature sets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RNN / LSTM architectures for sequential purchase behaviour modelling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automated hyperparameter tuning and cross-validation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CRM systems for real-time personalized customer engagement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a REST API / web service for live business use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4617720"/>
            <a:ext cx="8229600" cy="25603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63600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a complete end-to-end AI pipeline — from raw retail data to deployed intelligence.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7315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914400" y="1874520"/>
            <a:ext cx="3657600" cy="4572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116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C8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2743200"/>
            <a:ext cx="1737360" cy="914400"/>
          </a:xfrm>
          <a:prstGeom prst="rect">
            <a:avLst/>
          </a:prstGeom>
          <a:solidFill>
            <a:srgbClr val="0A2030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7889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85.94%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26080" y="2743200"/>
            <a:ext cx="1737360" cy="914400"/>
          </a:xfrm>
          <a:prstGeom prst="rect">
            <a:avLst/>
          </a:prstGeom>
          <a:solidFill>
            <a:srgbClr val="0A2030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27889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85.99%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926080" y="329184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37760" y="2743200"/>
            <a:ext cx="1737360" cy="914400"/>
          </a:xfrm>
          <a:prstGeom prst="rect">
            <a:avLst/>
          </a:prstGeom>
          <a:solidFill>
            <a:srgbClr val="0A2030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7889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937760" y="329184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49440" y="2743200"/>
            <a:ext cx="1737360" cy="914400"/>
          </a:xfrm>
          <a:prstGeom prst="rect">
            <a:avLst/>
          </a:prstGeom>
          <a:solidFill>
            <a:srgbClr val="0A2030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27889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949440" y="329184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3931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Abhinav M  ·  31250837  ·  TCS iON AIP 135  ·  Vishwakarma University, Pune  ·  AY 2025–26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839</TotalTime>
  <Words>1281</Words>
  <Application>Microsoft Office PowerPoint</Application>
  <PresentationFormat>On-screen Show (16:9)</PresentationFormat>
  <Paragraphs>257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TCS iON AIP 135 - Neural Network Customer Analytics</dc:title>
  <dc:subject>PptxGenJS Presentation</dc:subject>
  <dc:creator>PptxGenJS</dc:creator>
  <cp:lastModifiedBy>Aathira Bhaskaran</cp:lastModifiedBy>
  <cp:revision>4</cp:revision>
  <dcterms:created xsi:type="dcterms:W3CDTF">2026-05-10T06:57:46Z</dcterms:created>
  <dcterms:modified xsi:type="dcterms:W3CDTF">2026-05-11T07:30:50Z</dcterms:modified>
</cp:coreProperties>
</file>